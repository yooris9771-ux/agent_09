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109728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Anthropic &amp; Claude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회사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CE8D8"/>
                </a:solidFill>
                <a:latin typeface="맑은 고딕"/>
              </a:rPr>
              <a:t>안전하고 신뢰할 수 있는 AI를 만드는 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맑은 고딕"/>
              </a:rPr>
              <a:t>2026. 10. 10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회사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2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371600" cy="54864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828800" cy="777240"/>
          </a:xfrm>
          <a:prstGeom prst="round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2021년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828800" cy="777240"/>
          </a:xfrm>
          <a:prstGeom prst="round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창업자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2316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Dario Amodei, Daniela Amodei 등
OpenAI 출신 연구진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828800" cy="777240"/>
          </a:xfrm>
          <a:prstGeom prst="round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본사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8328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미국 샌프란시스코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828800" cy="777240"/>
          </a:xfrm>
          <a:prstGeom prst="round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형태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34340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공익 법인(Public Benefit Corporation)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463040"/>
            <a:ext cx="4023360" cy="3657600"/>
          </a:xfrm>
          <a:prstGeom prst="roundRect">
            <a:avLst>
              <a:gd name="adj" fmla="val 8000"/>
            </a:avLst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E8711A"/>
                </a:solidFill>
                <a:latin typeface="맑은 고딕"/>
              </a:rPr>
              <a:t>미션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맑은 고딕"/>
              </a:rPr>
              <a:t>AI 시스템이 안전하고,
해석 가능하며,
조종 가능하도록 연구하고
그 성과를 제품으로 만든다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핵심 철학과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3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371600" cy="54864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606040" cy="109728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920240"/>
            <a:ext cx="777240" cy="77724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331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E8711A"/>
                </a:solidFill>
                <a:latin typeface="맑은 고딕"/>
              </a:rPr>
              <a:t>AI 안전 연구</a:t>
            </a:r>
          </a:p>
          <a:p>
            <a:pPr algn="ctr"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강력한 AI가 사람에게 이롭게 작동하도록 하는 연구를 회사의 중심에 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06040" cy="109728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1920240"/>
            <a:ext cx="777240" cy="77724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26080"/>
            <a:ext cx="2331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E8711A"/>
                </a:solidFill>
                <a:latin typeface="맑은 고딕"/>
              </a:rPr>
              <a:t>Constitutional AI</a:t>
            </a:r>
          </a:p>
          <a:p>
            <a:pPr algn="ctr"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명시적 원칙(헌법)을 바탕으로 모델이 스스로 응답을 평가·개선하도록 학습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606040" cy="109728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1920240"/>
            <a:ext cx="777240" cy="77724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26080"/>
            <a:ext cx="2331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E8711A"/>
                </a:solidFill>
                <a:latin typeface="맑은 고딕"/>
              </a:rPr>
              <a:t>해석 가능성 연구</a:t>
            </a:r>
          </a:p>
          <a:p>
            <a:pPr algn="ctr"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모델 내부에서 어떤 개념과 계산이 일어나는지 분석해 동작을 이해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55448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554480"/>
            <a:ext cx="2606040" cy="109728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1920240"/>
            <a:ext cx="777240" cy="77724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926080"/>
            <a:ext cx="2331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E8711A"/>
                </a:solidFill>
                <a:latin typeface="맑은 고딕"/>
              </a:rPr>
              <a:t>책임 있는 확장 정책</a:t>
            </a:r>
          </a:p>
          <a:p>
            <a:pPr algn="ctr">
              <a:spcAft>
                <a:spcPts val="12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RSP: 모델 능력 수준에 맞춰 안전 조치를 단계적으로 강화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제품 라인업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4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371600" cy="54864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5029200"/>
              </a:tblGrid>
              <a:tr h="731520"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E8711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 anchor="ctr">
                    <a:solidFill>
                      <a:srgbClr val="E8711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anchor="ctr">
                    <a:solidFill>
                      <a:srgbClr val="E8711A"/>
                    </a:solidFill>
                  </a:tcPr>
                </a:tc>
              </a:tr>
              <a:tr h="960120"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E8711A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333333"/>
                          </a:solidFill>
                          <a:latin typeface="맑은 고딕"/>
                        </a:rPr>
                        <a:t>Claude 모델군
(Fable · Opus · Sonnet · Haiku)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333333"/>
                          </a:solidFill>
                          <a:latin typeface="맑은 고딕"/>
                        </a:rPr>
                        <a:t>성능·속도·비용에 따라 고르는 모델 계열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E8711A"/>
                          </a:solidFill>
                          <a:latin typeface="맑은 고딕"/>
                        </a:rPr>
                        <a:t>앱</a:t>
                      </a:r>
                    </a:p>
                  </a:txBody>
                  <a:tcPr anchor="ctr">
                    <a:solidFill>
                      <a:srgbClr val="FCE8D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333333"/>
                          </a:solidFill>
                          <a:latin typeface="맑은 고딕"/>
                        </a:rPr>
                        <a:t>Claude 앱
(웹 · 데스크톱 · 모바일)</a:t>
                      </a:r>
                    </a:p>
                  </a:txBody>
                  <a:tcPr anchor="ctr">
                    <a:solidFill>
                      <a:srgbClr val="FCE8D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333333"/>
                          </a:solidFill>
                          <a:latin typeface="맑은 고딕"/>
                        </a:rPr>
                        <a:t>대화, 문서 작성, 분석, 아티팩트 생성</a:t>
                      </a:r>
                    </a:p>
                  </a:txBody>
                  <a:tcPr anchor="ctr">
                    <a:solidFill>
                      <a:srgbClr val="FCE8D8"/>
                    </a:solidFill>
                  </a:tcPr>
                </a:tc>
              </a:tr>
              <a:tr h="960120"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E8711A"/>
                          </a:solidFill>
                          <a:latin typeface="맑은 고딕"/>
                        </a:rPr>
                        <a:t>개발 도구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333333"/>
                          </a:solidFill>
                          <a:latin typeface="맑은 고딕"/>
                        </a:rPr>
                        <a:t>Claude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333333"/>
                          </a:solidFill>
                          <a:latin typeface="맑은 고딕"/>
                        </a:rPr>
                        <a:t>터미널·IDE에서 쓰는 AI 코딩 에이전트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 anchor="ctr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E8711A"/>
                          </a:solidFill>
                          <a:latin typeface="맑은 고딕"/>
                        </a:rPr>
                        <a:t>플랫폼</a:t>
                      </a:r>
                    </a:p>
                  </a:txBody>
                  <a:tcPr anchor="ctr">
                    <a:solidFill>
                      <a:srgbClr val="FCE8D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333333"/>
                          </a:solidFill>
                          <a:latin typeface="맑은 고딕"/>
                        </a:rPr>
                        <a:t>Claude API · 개발자 플랫폼</a:t>
                      </a:r>
                    </a:p>
                  </a:txBody>
                  <a:tcPr anchor="ctr">
                    <a:solidFill>
                      <a:srgbClr val="FCE8D8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333333"/>
                          </a:solidFill>
                          <a:latin typeface="맑은 고딕"/>
                        </a:rPr>
                        <a:t>기업·개발자가 자사 서비스에 Claude를 통합</a:t>
                      </a:r>
                    </a:p>
                  </a:txBody>
                  <a:tcPr anchor="ctr">
                    <a:solidFill>
                      <a:srgbClr val="FCE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5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371600" cy="54864"/>
          </a:xfrm>
          <a:prstGeom prst="rect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333333"/>
                </a:solidFill>
                <a:latin typeface="맑은 고딕"/>
              </a:rPr>
              <a:t>2021년 설립된 AI 안전 연구 중심의 공익 법인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06039"/>
            <a:ext cx="731520" cy="73152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06039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333333"/>
                </a:solidFill>
                <a:latin typeface="맑은 고딕"/>
              </a:rPr>
              <a:t>Constitutional AI · 해석 가능성 연구 · RSP로 안전을 기술과 정책에 반영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657600"/>
            <a:ext cx="731520" cy="73152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333333"/>
                </a:solidFill>
                <a:latin typeface="맑은 고딕"/>
              </a:rPr>
              <a:t>Claude 모델군과 앱, Claude Code, API로 개인·개발자·기업 모두를 지원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709159"/>
            <a:ext cx="731520" cy="731520"/>
          </a:xfrm>
          <a:prstGeom prst="ellipse">
            <a:avLst/>
          </a:prstGeom>
          <a:solidFill>
            <a:srgbClr val="E87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709159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333333"/>
                </a:solidFill>
                <a:latin typeface="맑은 고딕"/>
              </a:rPr>
              <a:t>"유용하면서도 안전한 AI"가 회사의 일관된 방향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&amp; Claude 회사 소개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